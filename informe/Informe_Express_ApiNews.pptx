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1901701a0e42ed" /><Relationship Type="http://schemas.openxmlformats.org/officeDocument/2006/relationships/extended-properties" Target="/docProps/app.xml" Id="R6622f81bf14748e0" /><Relationship Type="http://schemas.openxmlformats.org/officeDocument/2006/relationships/officeDocument" Target="/ppt/presentation.xml" Id="Rea9e7f60b9b346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c90d726a749be"/>
  </p:sldMasterIdLst>
  <p:notesMasterIdLst>
    <p:notesMasterId xmlns:r="http://schemas.openxmlformats.org/officeDocument/2006/relationships" r:id="Rc09a49a9df8c4fc6"/>
  </p:notesMasterIdLst>
  <p:sldIdLst>
    <p:sldId xmlns:r="http://schemas.openxmlformats.org/officeDocument/2006/relationships" id="256" r:id="Reb587a66dff74ed0"/>
    <p:sldId xmlns:r="http://schemas.openxmlformats.org/officeDocument/2006/relationships" id="257" r:id="R0bf4ad4654b143f8"/>
    <p:sldId xmlns:r="http://schemas.openxmlformats.org/officeDocument/2006/relationships" id="258" r:id="R312b671a506440b6"/>
    <p:sldId xmlns:r="http://schemas.openxmlformats.org/officeDocument/2006/relationships" id="259" r:id="R5842eed9db15401a"/>
    <p:sldId xmlns:r="http://schemas.openxmlformats.org/officeDocument/2006/relationships" id="260" r:id="Ra732eaa8f39b415a"/>
    <p:sldId xmlns:r="http://schemas.openxmlformats.org/officeDocument/2006/relationships" id="261" r:id="Rc5dc3c31f26046b6"/>
    <p:sldId xmlns:r="http://schemas.openxmlformats.org/officeDocument/2006/relationships" id="262" r:id="R14fadb7278014dcc"/>
    <p:sldId xmlns:r="http://schemas.openxmlformats.org/officeDocument/2006/relationships" id="263" r:id="Rc70d00b7ea5f43fb"/>
    <p:sldId xmlns:r="http://schemas.openxmlformats.org/officeDocument/2006/relationships" id="264" r:id="R15a2881eadf74be4"/>
    <p:sldId xmlns:r="http://schemas.openxmlformats.org/officeDocument/2006/relationships" id="265" r:id="Rbc1968cc9dfc4e75"/>
    <p:sldId xmlns:r="http://schemas.openxmlformats.org/officeDocument/2006/relationships" id="266" r:id="R4b99fbdc99fe4df6"/>
    <p:sldId xmlns:r="http://schemas.openxmlformats.org/officeDocument/2006/relationships" id="267" r:id="R9e1354436b254e43"/>
    <p:sldId xmlns:r="http://schemas.openxmlformats.org/officeDocument/2006/relationships" id="268" r:id="Rc542efb92a9746ac"/>
    <p:sldId xmlns:r="http://schemas.openxmlformats.org/officeDocument/2006/relationships" id="269" r:id="R379fe8ccdf0c4ef9"/>
    <p:sldId xmlns:r="http://schemas.openxmlformats.org/officeDocument/2006/relationships" id="270" r:id="R87b6c94ca50c4327"/>
    <p:sldId xmlns:r="http://schemas.openxmlformats.org/officeDocument/2006/relationships" id="271" r:id="R8266087f07c24eff"/>
    <p:sldId xmlns:r="http://schemas.openxmlformats.org/officeDocument/2006/relationships" id="272" r:id="R60d9c5b1c9604100"/>
    <p:sldId xmlns:r="http://schemas.openxmlformats.org/officeDocument/2006/relationships" id="273" r:id="R488b254d2a1d458f"/>
    <p:sldId xmlns:r="http://schemas.openxmlformats.org/officeDocument/2006/relationships" id="274" r:id="Rc48d3a0b46ec4a92"/>
    <p:sldId xmlns:r="http://schemas.openxmlformats.org/officeDocument/2006/relationships" id="275" r:id="Rb450860e1f924525"/>
    <p:sldId xmlns:r="http://schemas.openxmlformats.org/officeDocument/2006/relationships" id="276" r:id="Rd2c9119f492b4534"/>
    <p:sldId xmlns:r="http://schemas.openxmlformats.org/officeDocument/2006/relationships" id="277" r:id="R1201b3edca3f4185"/>
    <p:sldId xmlns:r="http://schemas.openxmlformats.org/officeDocument/2006/relationships" id="278" r:id="R048faa3002734cdf"/>
    <p:sldId xmlns:r="http://schemas.openxmlformats.org/officeDocument/2006/relationships" id="279" r:id="R236a07fa345c4cfe"/>
    <p:sldId xmlns:r="http://schemas.openxmlformats.org/officeDocument/2006/relationships" id="280" r:id="R9fbae20c253946ac"/>
    <p:sldId xmlns:r="http://schemas.openxmlformats.org/officeDocument/2006/relationships" id="281" r:id="R4c749f27f8074a38"/>
    <p:sldId xmlns:r="http://schemas.openxmlformats.org/officeDocument/2006/relationships" id="282" r:id="R719a63b3ad2d4741"/>
    <p:sldId xmlns:r="http://schemas.openxmlformats.org/officeDocument/2006/relationships" id="283" r:id="R1fb85b48093e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bb40f704b4975" /><Relationship Type="http://schemas.openxmlformats.org/officeDocument/2006/relationships/slideMaster" Target="/ppt/slideMasters/slideMaster1.xml" Id="R053c90d726a749be" /><Relationship Type="http://schemas.openxmlformats.org/officeDocument/2006/relationships/notesMaster" Target="/ppt/notesMasters/notesMaster1.xml" Id="Rc09a49a9df8c4fc6" /><Relationship Type="http://schemas.openxmlformats.org/officeDocument/2006/relationships/presProps" Target="/ppt/presProps.xml" Id="R66856aff00f742a8" /><Relationship Type="http://schemas.openxmlformats.org/officeDocument/2006/relationships/tableStyles" Target="/ppt/tableStyles.xml" Id="Rc8f4b94a223f49b3" /><Relationship Type="http://schemas.openxmlformats.org/officeDocument/2006/relationships/slide" Target="/ppt/slides/slide1.xml" Id="Reb587a66dff74ed0" /><Relationship Type="http://schemas.openxmlformats.org/officeDocument/2006/relationships/slide" Target="/ppt/slides/slide2.xml" Id="R0bf4ad4654b143f8" /><Relationship Type="http://schemas.openxmlformats.org/officeDocument/2006/relationships/slide" Target="/ppt/slides/slide3.xml" Id="R312b671a506440b6" /><Relationship Type="http://schemas.openxmlformats.org/officeDocument/2006/relationships/slide" Target="/ppt/slides/slide4.xml" Id="R5842eed9db15401a" /><Relationship Type="http://schemas.openxmlformats.org/officeDocument/2006/relationships/slide" Target="/ppt/slides/slide5.xml" Id="Ra732eaa8f39b415a" /><Relationship Type="http://schemas.openxmlformats.org/officeDocument/2006/relationships/slide" Target="/ppt/slides/slide6.xml" Id="Rc5dc3c31f26046b6" /><Relationship Type="http://schemas.openxmlformats.org/officeDocument/2006/relationships/slide" Target="/ppt/slides/slide7.xml" Id="R14fadb7278014dcc" /><Relationship Type="http://schemas.openxmlformats.org/officeDocument/2006/relationships/slide" Target="/ppt/slides/slide8.xml" Id="Rc70d00b7ea5f43fb" /><Relationship Type="http://schemas.openxmlformats.org/officeDocument/2006/relationships/slide" Target="/ppt/slides/slide9.xml" Id="R15a2881eadf74be4" /><Relationship Type="http://schemas.openxmlformats.org/officeDocument/2006/relationships/slide" Target="/ppt/slides/slide10.xml" Id="Rbc1968cc9dfc4e75" /><Relationship Type="http://schemas.openxmlformats.org/officeDocument/2006/relationships/slide" Target="/ppt/slides/slide11.xml" Id="R4b99fbdc99fe4df6" /><Relationship Type="http://schemas.openxmlformats.org/officeDocument/2006/relationships/slide" Target="/ppt/slides/slide12.xml" Id="R9e1354436b254e43" /><Relationship Type="http://schemas.openxmlformats.org/officeDocument/2006/relationships/slide" Target="/ppt/slides/slide13.xml" Id="Rc542efb92a9746ac" /><Relationship Type="http://schemas.openxmlformats.org/officeDocument/2006/relationships/slide" Target="/ppt/slides/slide14.xml" Id="R379fe8ccdf0c4ef9" /><Relationship Type="http://schemas.openxmlformats.org/officeDocument/2006/relationships/slide" Target="/ppt/slides/slide15.xml" Id="R87b6c94ca50c4327" /><Relationship Type="http://schemas.openxmlformats.org/officeDocument/2006/relationships/slide" Target="/ppt/slides/slide16.xml" Id="R8266087f07c24eff" /><Relationship Type="http://schemas.openxmlformats.org/officeDocument/2006/relationships/slide" Target="/ppt/slides/slide17.xml" Id="R60d9c5b1c9604100" /><Relationship Type="http://schemas.openxmlformats.org/officeDocument/2006/relationships/slide" Target="/ppt/slides/slide18.xml" Id="R488b254d2a1d458f" /><Relationship Type="http://schemas.openxmlformats.org/officeDocument/2006/relationships/slide" Target="/ppt/slides/slide19.xml" Id="Rc48d3a0b46ec4a92" /><Relationship Type="http://schemas.openxmlformats.org/officeDocument/2006/relationships/slide" Target="/ppt/slides/slide20.xml" Id="Rb450860e1f924525" /><Relationship Type="http://schemas.openxmlformats.org/officeDocument/2006/relationships/slide" Target="/ppt/slides/slide21.xml" Id="Rd2c9119f492b4534" /><Relationship Type="http://schemas.openxmlformats.org/officeDocument/2006/relationships/slide" Target="/ppt/slides/slide22.xml" Id="R1201b3edca3f4185" /><Relationship Type="http://schemas.openxmlformats.org/officeDocument/2006/relationships/slide" Target="/ppt/slides/slide23.xml" Id="R048faa3002734cdf" /><Relationship Type="http://schemas.openxmlformats.org/officeDocument/2006/relationships/slide" Target="/ppt/slides/slide24.xml" Id="R236a07fa345c4cfe" /><Relationship Type="http://schemas.openxmlformats.org/officeDocument/2006/relationships/slide" Target="/ppt/slides/slide25.xml" Id="R9fbae20c253946ac" /><Relationship Type="http://schemas.openxmlformats.org/officeDocument/2006/relationships/slide" Target="/ppt/slides/slide26.xml" Id="R4c749f27f8074a38" /><Relationship Type="http://schemas.openxmlformats.org/officeDocument/2006/relationships/slide" Target="/ppt/slides/slide27.xml" Id="R719a63b3ad2d4741" /><Relationship Type="http://schemas.openxmlformats.org/officeDocument/2006/relationships/slide" Target="/ppt/slides/slide28.xml" Id="R1fb85b48093e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31ec45f759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523bd50134df6" /><Relationship Type="http://schemas.openxmlformats.org/officeDocument/2006/relationships/notesMaster" Target="/ppt/notesMasters/notesMaster1.xml" Id="Rb91bff96d63b49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89b03b9bc04d27" /><Relationship Type="http://schemas.openxmlformats.org/officeDocument/2006/relationships/notesMaster" Target="/ppt/notesMasters/notesMaster1.xml" Id="R2a6246fbf66944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e36b35e3e6476d" /><Relationship Type="http://schemas.openxmlformats.org/officeDocument/2006/relationships/notesMaster" Target="/ppt/notesMasters/notesMaster1.xml" Id="Raa8110e6020c4e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5e0e89ac884ba9" /><Relationship Type="http://schemas.openxmlformats.org/officeDocument/2006/relationships/notesMaster" Target="/ppt/notesMasters/notesMaster1.xml" Id="R7cb9ad75d92b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ec97ddc8364027" /><Relationship Type="http://schemas.openxmlformats.org/officeDocument/2006/relationships/notesMaster" Target="/ppt/notesMasters/notesMaster1.xml" Id="R0512c618bcc8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af3bc9302447d1" /><Relationship Type="http://schemas.openxmlformats.org/officeDocument/2006/relationships/notesMaster" Target="/ppt/notesMasters/notesMaster1.xml" Id="Rf6633d86e6aa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9d4b5b8e944b1" /><Relationship Type="http://schemas.openxmlformats.org/officeDocument/2006/relationships/notesMaster" Target="/ppt/notesMasters/notesMaster1.xml" Id="R432ebcc1cc8242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a2474fb0554e36" /><Relationship Type="http://schemas.openxmlformats.org/officeDocument/2006/relationships/notesMaster" Target="/ppt/notesMasters/notesMaster1.xml" Id="Ra592fb71ca874c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14a14d86314de7" /><Relationship Type="http://schemas.openxmlformats.org/officeDocument/2006/relationships/notesMaster" Target="/ppt/notesMasters/notesMaster1.xml" Id="Rac3ef6c39f954a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024818b0374500" /><Relationship Type="http://schemas.openxmlformats.org/officeDocument/2006/relationships/notesMaster" Target="/ppt/notesMasters/notesMaster1.xml" Id="Rd2c704ab83114a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38e028b36a4143" /><Relationship Type="http://schemas.openxmlformats.org/officeDocument/2006/relationships/notesMaster" Target="/ppt/notesMasters/notesMaster1.xml" Id="R396b4d5a9c4142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df08a1b8bf45cf" /><Relationship Type="http://schemas.openxmlformats.org/officeDocument/2006/relationships/notesMaster" Target="/ppt/notesMasters/notesMaster1.xml" Id="R0dde49b8f67d4a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6c2be2477642ef" /><Relationship Type="http://schemas.openxmlformats.org/officeDocument/2006/relationships/notesMaster" Target="/ppt/notesMasters/notesMaster1.xml" Id="Rfcffa8e215a14f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acd1be95364ccb" /><Relationship Type="http://schemas.openxmlformats.org/officeDocument/2006/relationships/notesMaster" Target="/ppt/notesMasters/notesMaster1.xml" Id="Rc7df19ba169449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bb728a5304608" /><Relationship Type="http://schemas.openxmlformats.org/officeDocument/2006/relationships/notesMaster" Target="/ppt/notesMasters/notesMaster1.xml" Id="R243ab99b043140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f2f56b8d8d4f74" /><Relationship Type="http://schemas.openxmlformats.org/officeDocument/2006/relationships/notesMaster" Target="/ppt/notesMasters/notesMaster1.xml" Id="R4d079acfdaf44d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5a92caba654fec" /><Relationship Type="http://schemas.openxmlformats.org/officeDocument/2006/relationships/notesMaster" Target="/ppt/notesMasters/notesMaster1.xml" Id="Re8bf5691bbbb4f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9b795c39db49fa" /><Relationship Type="http://schemas.openxmlformats.org/officeDocument/2006/relationships/notesMaster" Target="/ppt/notesMasters/notesMaster1.xml" Id="R7b3501a0d7cd48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27df50794e14a04" /><Relationship Type="http://schemas.openxmlformats.org/officeDocument/2006/relationships/notesMaster" Target="/ppt/notesMasters/notesMaster1.xml" Id="Rc261ce86e45048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26ce316d07435f" /><Relationship Type="http://schemas.openxmlformats.org/officeDocument/2006/relationships/notesMaster" Target="/ppt/notesMasters/notesMaster1.xml" Id="R5894313e5fec4a4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9b1ee304c84a29" /><Relationship Type="http://schemas.openxmlformats.org/officeDocument/2006/relationships/notesMaster" Target="/ppt/notesMasters/notesMaster1.xml" Id="R5a9e24deb901434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be410ea3054c5c" /><Relationship Type="http://schemas.openxmlformats.org/officeDocument/2006/relationships/notesMaster" Target="/ppt/notesMasters/notesMaster1.xml" Id="R031bbeb9a4aa474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f0f074a1ed46b5" /><Relationship Type="http://schemas.openxmlformats.org/officeDocument/2006/relationships/notesMaster" Target="/ppt/notesMasters/notesMaster1.xml" Id="Rdebf325b8d464d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8d34055e384ae3" /><Relationship Type="http://schemas.openxmlformats.org/officeDocument/2006/relationships/notesMaster" Target="/ppt/notesMasters/notesMaster1.xml" Id="Rb882f1b36cd04b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de45790b534802" /><Relationship Type="http://schemas.openxmlformats.org/officeDocument/2006/relationships/notesMaster" Target="/ppt/notesMasters/notesMaster1.xml" Id="R8f8687949bad432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7ec1b2ae94446d" /><Relationship Type="http://schemas.openxmlformats.org/officeDocument/2006/relationships/notesMaster" Target="/ppt/notesMasters/notesMaster1.xml" Id="R6d982ec7e1db45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545d9f5a5a4929" /><Relationship Type="http://schemas.openxmlformats.org/officeDocument/2006/relationships/notesMaster" Target="/ppt/notesMasters/notesMaster1.xml" Id="R2a439aae185942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e22f588854418e" /><Relationship Type="http://schemas.openxmlformats.org/officeDocument/2006/relationships/notesMaster" Target="/ppt/notesMasters/notesMaster1.xml" Id="Rf53c568b00ee48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Express y ApiNews.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Qué incluye el trabajo.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Node.js y Express cumplen funciones distintas.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La práctica de módulos.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En la web  →  Módulos y eventos  →  Calcular con el módulo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La práctica de eventos.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Prueba con tu nombre y revisa el orden de los cinco pasos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El primer servidor y sus rutas.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La URL por sí sola no describe todo el endpoint: también importa el método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Qué hace un middleware.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Las tres funciones de la actividad 2.4.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Un error 503 también es una actividad correcta.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Métodos HTTP y operaciones.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Tres formas de enviar información.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Usuarios en un arreglo de memoria.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Qué resuelve ApiNews.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Las carpetas y su responsabilidad.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El recorrido de una consulta.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Relaciones entre los modelos.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Sequelize y los controladores.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Validaciones antes de guardar.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Registro y contraseñas.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JWT y la sesión.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Autenticación y autorización.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El flujo de una noticia.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CORS JSON y configuración privada.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Documentación y pruebas.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Dónde se aloja el trabajo.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>La publicación debe verificarse con /api/salud antes de entregar. Límites y plan observados en los paneles de Render y Clever Cloud el 13 de octubre de 2026.</a:t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Cómo presentar las actividades al profesor.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Cómo interpretar las respuestas.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Secciones del curso de Express correspondientes a Lo que debes poder explicar.</a:t>
            </a:r>
          </a:p>
          <a:p xmlns:a="http://schemas.openxmlformats.org/drawingml/2006/main">
            <a:r>
              <a:t>Fuente del curso: https://verbose-vole-299.notion.site/Curso-de-Aprendizaje-APIs-en-Express-js-Material-039dc4a6e2ff4a8688cee28388e95a27</a:t>
            </a:r>
          </a:p>
          <a:p xmlns:a="http://schemas.openxmlformats.org/drawingml/2006/main">
            <a:r>
              <a:t>Fuentes técnicas: https://expressjs.com/en/guide/routing/</a:t>
            </a:r>
          </a:p>
          <a:p xmlns:a="http://schemas.openxmlformats.org/drawingml/2006/main">
            <a:r>
              <a:t>https://expressjs.com/en/guide/using-middleware/</a:t>
            </a:r>
          </a:p>
          <a:p xmlns:a="http://schemas.openxmlformats.org/drawingml/2006/main">
            <a:r>
              <a:t>https://sequelize.org/docs/v6/getting-started/</a:t>
            </a:r>
          </a:p>
          <a:p xmlns:a="http://schemas.openxmlformats.org/drawingml/2006/main">
            <a:r>
              <a:t>https://sequelize.org/docs/v6/core-concepts/assocs/</a:t>
            </a:r>
          </a:p>
          <a:p xmlns:a="http://schemas.openxmlformats.org/drawingml/2006/main">
            <a:r>
              <a:t>Proyecto realizado: C:/Users/edcru/Documents/Tareas_Cordi/curso-express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de demostración: Abrir el bloque correspondiente en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48d3826334d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7b000dcff4f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7707ca22747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4d4db521b45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0cdd9b6814e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735d5ff0f47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0AAEDA-985A-43FC-88A3-269029FE7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E1186C-D508-4608-84E0-ECF19E8BC0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4550B4-295D-4E92-82AF-EA0DF6B6E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5424B0-E270-4419-810F-13BC266D5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C645BB-E95A-4E0E-835A-408852DC9F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035898-DCF1-49D8-9C8C-9464DDA0D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1E032-A673-42FA-8C6B-38935958A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913521-C481-45CA-892F-4DDA89C14F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E691F6-FB93-4687-935F-3DC84BD21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694E86-F76D-48D7-984A-5B59C90383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2919f59314732" /><Relationship Type="http://schemas.openxmlformats.org/officeDocument/2006/relationships/slideLayout" Target="/ppt/slideLayouts/slideLayout1.xml" Id="R0bca30b60a2e4fe5" /><Relationship Type="http://schemas.openxmlformats.org/officeDocument/2006/relationships/slideLayout" Target="/ppt/slideLayouts/slideLayout2.xml" Id="R1b54decb50234289" /><Relationship Type="http://schemas.openxmlformats.org/officeDocument/2006/relationships/slideLayout" Target="/ppt/slideLayouts/slideLayout3.xml" Id="Rb418e1a15b5746e7" /><Relationship Type="http://schemas.openxmlformats.org/officeDocument/2006/relationships/slideLayout" Target="/ppt/slideLayouts/slideLayout4.xml" Id="R885248d3a00c4a51" /><Relationship Type="http://schemas.openxmlformats.org/officeDocument/2006/relationships/slideLayout" Target="/ppt/slideLayouts/slideLayout5.xml" Id="R09932dce18d142e4" /><Relationship Type="http://schemas.openxmlformats.org/officeDocument/2006/relationships/slideLayout" Target="/ppt/slideLayouts/slideLayout6.xml" Id="R37b6f7a26049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ca30b60a2e4fe5"/>
    <p:sldLayoutId xmlns:r="http://schemas.openxmlformats.org/officeDocument/2006/relationships" id="2147483650" r:id="R1b54decb50234289"/>
    <p:sldLayoutId xmlns:r="http://schemas.openxmlformats.org/officeDocument/2006/relationships" id="2147483651" r:id="Rb418e1a15b5746e7"/>
    <p:sldLayoutId xmlns:r="http://schemas.openxmlformats.org/officeDocument/2006/relationships" id="2147483652" r:id="R885248d3a00c4a51"/>
    <p:sldLayoutId xmlns:r="http://schemas.openxmlformats.org/officeDocument/2006/relationships" id="2147483653" r:id="R09932dce18d142e4"/>
    <p:sldLayoutId xmlns:r="http://schemas.openxmlformats.org/officeDocument/2006/relationships" id="2147483654" r:id="R37b6f7a26049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d1f7cea294de3" /><Relationship Type="http://schemas.openxmlformats.org/officeDocument/2006/relationships/notesSlide" Target="/ppt/notesSlides/notesSlide1.xml" Id="R1d50ec6e3a98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c0791f9d5433b" /><Relationship Type="http://schemas.openxmlformats.org/officeDocument/2006/relationships/notesSlide" Target="/ppt/notesSlides/notesSlide2.xml" Id="R298a16f6078341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3aa3427fe4bb1" /><Relationship Type="http://schemas.openxmlformats.org/officeDocument/2006/relationships/notesSlide" Target="/ppt/notesSlides/notesSlide3.xml" Id="R1021e140f219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55d0dc6519481a" /><Relationship Type="http://schemas.openxmlformats.org/officeDocument/2006/relationships/notesSlide" Target="/ppt/notesSlides/notesSlide4.xml" Id="Re00b8b039378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bb46461684d48" /><Relationship Type="http://schemas.openxmlformats.org/officeDocument/2006/relationships/notesSlide" Target="/ppt/notesSlides/notesSlide5.xml" Id="Rbe84296444d0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9baf4f7e9432b" /><Relationship Type="http://schemas.openxmlformats.org/officeDocument/2006/relationships/notesSlide" Target="/ppt/notesSlides/notesSlide6.xml" Id="R530cdfe7458c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0d8ba6f0742d0" /><Relationship Type="http://schemas.openxmlformats.org/officeDocument/2006/relationships/notesSlide" Target="/ppt/notesSlides/notesSlide7.xml" Id="Rbe4747a175064d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4e35f176e4b80" /><Relationship Type="http://schemas.openxmlformats.org/officeDocument/2006/relationships/notesSlide" Target="/ppt/notesSlides/notesSlide8.xml" Id="R09059e46248c4f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0c83a595f4fd4" /><Relationship Type="http://schemas.openxmlformats.org/officeDocument/2006/relationships/image" Target="/ppt/media/image.jpeg" Id="Ref403cfc980c437f" /><Relationship Type="http://schemas.openxmlformats.org/officeDocument/2006/relationships/notesSlide" Target="/ppt/notesSlides/notesSlide9.xml" Id="R69f7df1e65344f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5f7ff159140ca" /><Relationship Type="http://schemas.openxmlformats.org/officeDocument/2006/relationships/notesSlide" Target="/ppt/notesSlides/notesSlide10.xml" Id="Rcaa586bef55c4e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efbeaa10a41a6" /><Relationship Type="http://schemas.openxmlformats.org/officeDocument/2006/relationships/notesSlide" Target="/ppt/notesSlides/notesSlide11.xml" Id="Rb032724bee96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ae7c9c033458a" /><Relationship Type="http://schemas.openxmlformats.org/officeDocument/2006/relationships/notesSlide" Target="/ppt/notesSlides/notesSlide12.xml" Id="Rf147633e77274f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00f94f7cd4256" /><Relationship Type="http://schemas.openxmlformats.org/officeDocument/2006/relationships/notesSlide" Target="/ppt/notesSlides/notesSlide13.xml" Id="R4ec171ac2e0943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98605d4964548" /><Relationship Type="http://schemas.openxmlformats.org/officeDocument/2006/relationships/notesSlide" Target="/ppt/notesSlides/notesSlide14.xml" Id="Rfb8e10d62b104e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8fb5dafe24b94" /><Relationship Type="http://schemas.openxmlformats.org/officeDocument/2006/relationships/image" Target="/ppt/media/image2.jpeg" Id="R4b8401c7dc534271" /><Relationship Type="http://schemas.openxmlformats.org/officeDocument/2006/relationships/notesSlide" Target="/ppt/notesSlides/notesSlide15.xml" Id="R549a4ff161044f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49b6de2aa4587" /><Relationship Type="http://schemas.openxmlformats.org/officeDocument/2006/relationships/notesSlide" Target="/ppt/notesSlides/notesSlide16.xml" Id="R110d34cc48dd4c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9c214ce1b4afd" /><Relationship Type="http://schemas.openxmlformats.org/officeDocument/2006/relationships/notesSlide" Target="/ppt/notesSlides/notesSlide17.xml" Id="R16b32cbfa55c44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8e9cbe1084bc8" /><Relationship Type="http://schemas.openxmlformats.org/officeDocument/2006/relationships/notesSlide" Target="/ppt/notesSlides/notesSlide18.xml" Id="R94511b6c03b445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1a7f572554e80" /><Relationship Type="http://schemas.openxmlformats.org/officeDocument/2006/relationships/notesSlide" Target="/ppt/notesSlides/notesSlide19.xml" Id="R60bba53229ea44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dec90d3e24ac0" /><Relationship Type="http://schemas.openxmlformats.org/officeDocument/2006/relationships/notesSlide" Target="/ppt/notesSlides/notesSlide20.xml" Id="R44451b0aac5e4f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f3c0a928c4c2e" /><Relationship Type="http://schemas.openxmlformats.org/officeDocument/2006/relationships/notesSlide" Target="/ppt/notesSlides/notesSlide21.xml" Id="R77a89f31f9f343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7a7fcc5b44b59" /><Relationship Type="http://schemas.openxmlformats.org/officeDocument/2006/relationships/notesSlide" Target="/ppt/notesSlides/notesSlide22.xml" Id="R6729a14c3c9c45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4a42e6a4b47e9" /><Relationship Type="http://schemas.openxmlformats.org/officeDocument/2006/relationships/notesSlide" Target="/ppt/notesSlides/notesSlide23.xml" Id="R9957bfebb3be40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d644143984966" /><Relationship Type="http://schemas.openxmlformats.org/officeDocument/2006/relationships/notesSlide" Target="/ppt/notesSlides/notesSlide24.xml" Id="Ra2051cd1c5bf40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2ee7eae914f3e" /><Relationship Type="http://schemas.openxmlformats.org/officeDocument/2006/relationships/notesSlide" Target="/ppt/notesSlides/notesSlide25.xml" Id="R2ca899aabb9c44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59608fc784700" /><Relationship Type="http://schemas.openxmlformats.org/officeDocument/2006/relationships/notesSlide" Target="/ppt/notesSlides/notesSlide26.xml" Id="Re63357dbbc1245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eec89ac0c4034" /><Relationship Type="http://schemas.openxmlformats.org/officeDocument/2006/relationships/notesSlide" Target="/ppt/notesSlides/notesSlide27.xml" Id="Rfe14788e4df34e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d5783e73443cb" /><Relationship Type="http://schemas.openxmlformats.org/officeDocument/2006/relationships/notesSlide" Target="/ppt/notesSlides/notesSlide28.xml" Id="Re48663bf6140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7CBB6-0CC5-4DFA-BDC0-8EBFC03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C0AC5-3776-44A7-AAA3-2086435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7E9E2"/>
                </a:solidFill>
                <a:latin typeface="Arial"/>
                <a:ea typeface="Arial"/>
                <a:cs typeface="Arial"/>
              </a:rPr>
              <a:t>Guía para entender y demostrar todo el curso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6693B-6098-447F-ABB4-F827F0F7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9E2"/>
                </a:solidFill>
                <a:latin typeface="Arial"/>
                <a:ea typeface="Arial"/>
                <a:cs typeface="Arial"/>
              </a:rPr>
              <a:t>Una aplicación web para practicar Node.js, Express, rutas, middleware, MySQL, validaciones y JWT.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D7E9E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7E9E2"/>
                </a:solidFill>
                <a:latin typeface="Arial"/>
                <a:ea typeface="Arial"/>
                <a:cs typeface="Arial"/>
              </a:rPr>
              <a:t>Ejemplos reales del proyecto que realizamos. Puedes demostrar las actividades desde el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97C0D-3F0C-4189-9E54-CEC41811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CD5C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CD5C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5CB"/>
                </a:solidFill>
                <a:latin typeface="Arial"/>
                <a:ea typeface="Arial"/>
                <a:cs typeface="Arial"/>
              </a:rPr>
              <a:t>Curso completo con laboratorio web y MySQL real</a:t>
            </a:r>
          </a:p>
        </p:txBody>
      </p:sp>
    </p:spTree>
    <p:extLst>
      <p:ext uri="{BB962C8B-B14F-4D97-AF65-F5344CB8AC3E}">
        <p14:creationId xmlns:p14="http://schemas.microsoft.com/office/powerpoint/2010/main" val="13160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27E48-9F39-4CE0-9129-11EF6106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Qué incluye el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92A47-2FC1-47B9-8061-8B2424D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laboratorio reúne las prácticas iniciales y una API de noticias completa. Los primeros bloques enseñan módulos, eventos, funciones y rutas. ApiNews añade persistencia en MySQL, relaciones entre tablas y operaciones protegidas.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 página web es el cliente de la API. Al presionar un botón, envía una solicitud al servidor Express. No calcula ni inventa la respuesta: el servidor ejecuta la operación y devuelve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proyecto incluye instrucciones, documentación Swagger, una colección Postman, un esquema MySQL y pruebas. El menú permite presentar cada actividad por separado.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9CD91-1C63-46F9-A779-85CEE9D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57FF4-788B-479F-A925-BEAC061F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1946516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8AD49-A274-4EDD-AD2D-93B9DADE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Node.js y Express cumplen funciones distintas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FA512-E6F5-43AB-BB09-F31FBC88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JavaScript es el lenguaje. Node.js permite ejecutarlo fuera del navegador y acceder a funciones del servidor, como archivos, eventos y conexiones. Express es una biblioteca de Node para organizar un servidor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En nuestro proyecto, Node ejecuta app.js y Express recibe solicitudes HTTP. Cuando una ruta necesita información, espera una consulta de Sequelize a MySQL y después responde al navegador.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bucle de eventos coordina trabajo asíncrono. Esperar una consulta con await no significa que toda la aplicación se detenga. Pero un cálculo largo y síncrono sí puede ocupar el hilo de JavaScript.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E3CAB-45E1-4C92-A9E2-7B6A23E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8ED3A-7342-46E5-83CA-2E651C2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1742424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17C72-4792-4F53-B360-97DE39AA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La práctica de módulos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F0473-60DF-48CC-A1A3-B76DA87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operations.js contiene sumar, restar, multiplicar y dividir. module.exports permite que otro archivo use esas funciones. app.js las carga con require y el laboratorio llama a la misma lógica desde una ruta.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Al enviar 12 y 8, la respuesta devuelve suma 20, resta 4, multiplicación 96 y división 1.5. Si el divisor es cero, la demostración lo explica en lugar de mostrar un resultado inválido.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Aprende esta relación: exportar ofrece una función; importar permite usarla. La función sigue estando definida en un solo lugar y puede reutilizarse en varias prácticas.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18A90-4C00-4C33-A1D8-5701F43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7568"/>
                </a:solidFill>
                <a:latin typeface="Arial"/>
                <a:ea typeface="Arial"/>
                <a:cs typeface="Arial"/>
              </a:rPr>
              <a:t>En la web  →  Módulos y eventos  →  Calcular con el módulo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16CBB-CE08-43D4-B189-68CE54D0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6F2E-7659-452A-B067-0928DF18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1950188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7B3D-C4E5-4A99-A1EF-E7885C7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La práctica de eventos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AF040-48C6-4D2A-97D4-B2F565DF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EventEmitter crea un emisor. Con on registras una función que escucha un evento; con emit avisas que ese evento ocurrió y puedes enviar datos. En la práctica, el evento saludo recibe el nombre escrito en el formulario.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 respuesta enumera el recorrido: crear el emisor, registrar el listener, emitir el evento, ejecutar el saludo y continuar. Así puedes explicar qué sucede sin mostrar una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Este listener se ejecuta de forma síncrona cuando llamamos emit. El manejo de eventos no convierte automáticamente cualquier código en asíncrono; son conceptos relacionados, pero diferentes.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6712E-5F63-456F-BEDC-D1055CD1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7568"/>
                </a:solidFill>
                <a:latin typeface="Arial"/>
                <a:ea typeface="Arial"/>
                <a:cs typeface="Arial"/>
              </a:rPr>
              <a:t>Prueba con tu nombre y revisa el orden de los cinco pasos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67414-3D9A-45A2-A926-436FA91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6CCE-E069-4619-97E5-311B44D9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620869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95433-4722-43DA-9E08-D57E7E8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El primer servidor y sus rutas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4CA31-E1EE-4199-B0C2-4A82A722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MiPrimerExpress define una aplicación que recibe solicitudes y responde. Una ruta combina un método HTTP con un camino. GET / consulta el inicio; GET /home muestra otra respuesta; GET /error activa el ejemplo de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req representa lo que llega: parámetros, filtros, encabezados y cuerpo. res permite elegir el código de estado, añadir encabezados y enviar la respuesta. next pasa el control al siguiente middleware.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laboratorio integra estas prácticas en rutas /api/practicas. El botón Primer servidor muestra un mensaje JSON y el encabezado que añadió el middleware.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AE28-9385-42FF-9AB1-FC2EFF3C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375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7568"/>
                </a:solidFill>
                <a:latin typeface="Arial"/>
                <a:ea typeface="Arial"/>
                <a:cs typeface="Arial"/>
              </a:rPr>
              <a:t>La URL por sí sola no describe todo el endpoint: también importa el método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BB036-F58C-4C70-BB57-173B2E3A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2DBE-5D35-4ED0-B8D8-B686D45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1941318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616D0-AD2E-4633-A9A5-8F1E456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Qué hace un middleware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83C8A-BB12-4E9A-92F8-4528C81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Un middleware se ejecuta dentro del recorrido de una solicitud. Puede registrar información, procesar JSON, comprobar un token, validar datos o detener la petición. Su orden importa: no puedes validar un cuerpo que aún no se ha procesado.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Nuestro logger imprime SE HA REALIZADO UNA SOLICITUD para las solicitudes del servidor. También añade un encabezado y registra método, ruta y código de respuesta para la sesión del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botón Ver registro de solicitudes muestra ese trabajo en la web. No guarda contraseñas, cuerpos de login ni tokens. La función next continúa el recorrido; un error pasa al manejador 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D93D1-0761-4E70-9EBA-2770B151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91E1E-5454-4688-954A-D6822466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1123781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66185-A484-4689-9512-0352C52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Las tres funciones de la actividad 2.4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A3296-7A1F-4515-B6B7-5A4A5C58D74F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5848350"/>
              </a:tblGrid>
              <a:tr h="785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Función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Entrada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Estados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Sin parámetros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Un arreglo de cinco estados de México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Pares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Sin parámetros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Diez pares positivos generados con for: 2 a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Igualdad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Dos números recibidos por la ruta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Un booleano: true si son iguales y false si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8537A-C885-43E2-B7C2-64913C29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Los parámetros de una URL llegan como texto. Los convertimos a números antes de compararlos y rechazamos entradas que no sean numéricas.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 actividad no aclara si la secuencia incluye cero. En este trabajo usamos los primeros diez pares positivos y lo indicamos en la demostración.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9FCFC-0D91-48A4-BA6F-FD708D7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89CC5-3BB3-4607-A947-8339B33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135525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68D33-BEC4-4B22-922D-3818FF2C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Un error 503 también es una actividad correcta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86EA3-1B85-4C07-9F0B-DEE12FAA30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03cfc980c437f"/>
          <a:stretch xmlns:a="http://schemas.openxmlformats.org/drawingml/2006/main"/>
        </p:blipFill>
        <p:spPr>
          <a:xfrm xmlns:a="http://schemas.openxmlformats.org/drawingml/2006/main">
            <a:off x="1554307" y="1447800"/>
            <a:ext cx="4378036" cy="4533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8AE69-ABDF-4251-A159-BBBAF11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43624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Provocar error 503 activa el caso solicitado por el curso: SERVIDOR EN MANTENIMIENTO. El manejador central responde con ese mensaje y el código 503.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Es un fallo deliberado de esa solicitud. El proceso sigue funcionando: después puedes consultar los estados o verificar la base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No confundas el error de práctica con una aplicación caída. Para demostrarlo, señala la ruta, el código HTTP y el mensaje recibido.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4761D-6B97-4BD5-8F65-0048B5A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70772-F564-48CC-9465-7DF3418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487006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E6587-3A00-43CC-B2DE-93C8DE87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Métodos HTTP y operaciones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881E7-31B6-44A2-BC7C-3BCF1BC04BDD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5848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Método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Qué hacemos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Ejemplo del proyecto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Consultar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Listar categorías o noticias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Crear o enviar datos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Registrar usuario o proponer noticia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PUT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Actualizar los campos del registro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Editar una categoría o noticia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PATCH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Modificar una parte concreta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Aprobar o rechazar una noticia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Eliminar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Borrar un usuario de práctica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8B2BE-2ADA-45A1-8F86-347F7C42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servidor puede utilizar la misma ruta con métodos diferentes. La autorización y la validación se comprueban para la operación concreta que se solicita.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5B7C9-D1C5-4F09-A95B-6116EB65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B6C62-79DF-43C5-AC99-70EBA50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4868722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BD092-36EF-41DF-B699-E50458A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Tres formas de enviar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2E317-942F-4CB8-B50F-0B3F9E31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Parámetro de ruta: /api/teoria/usuarios/7 coloca el ID dentro del camino. Express lo recibe en req.params. Es útil cuando buscas un recurso determinado.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Parámetro de consulta: /api/teoria/busqueda?nombre=Ana&amp;edad=22 añade filtros después de ?. Express los recibe en req.query. La ruta base sigue siendo la misma.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Cuerpo: una solicitud POST envía un objeto JSON. express.json lo procesa y el controlador lo recibe en req.body. En la web hay tres botones para comparar estos orígenes y revisar qué recibió realmente el servidor.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DD979-D645-467C-B3B7-AA38263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D1BB5-DDD7-4E45-A2BE-6B04DA0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754137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CC859-28C4-4E88-B3D5-C6114890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Usuarios en un arreglo de memoria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81D95-8917-4C0A-9D5E-586FD37E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PracticaInformacionRutas empieza con cinco usuarios que tienen id, nombre y edad. La página permite listar, filtrar por nombre o edad mínima, agregar con POST, consultar por ID y eliminar con DELETE.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Al agregar un usuario se asigna un ID nuevo. Eliminarlo no obliga a renumerar los demás. Si consultas un ID que ya no existe, recibes 404. Entradas como una edad negativa producen 422.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Estos datos viven en memoria y se reinician al reiniciar el servidor. Cada sesión de navegador tiene un arreglo independiente. Esta práctica enseña rutas; los usuarios de ApiNews, en cambio, se guardan en MySQL.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27C7E-E4C4-4180-88AA-1C1E49CF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5F354-ABF2-4363-966A-7544C345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989439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E263A-5CA0-43EB-973F-9BFA1B22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Qué resuelve ApiNews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6F09C-9659-4660-966C-E59D21FF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ApiNews organiza noticias por categorías y estados de México. Una persona se registra como contribuidora, inicia sesión y propone una noticia. Un administrador revisa el contenido y decide si se publica.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proyecto utiliza cinco tablas: perfiles, usuarios, estados, categorías y noticias. Cada noticia identifica su categoría, estado y autor. El usuario identifica su perfil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Los botones del laboratorio demuestran consultas, altas, modificaciones y bajas. La información persistente se guarda en MySQL. Reiniciar Express no elimina esas filas, a diferencia del arreglo de la práctica inicial.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97A01-D23C-4126-89A6-3C4927B0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5ABF9-0C5E-4BE8-A0E1-A95E9DBA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041817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4ED3C-EB23-4ED2-A5C3-1805BDE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Las carpetas y su responsabilidad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78050-A111-4ED9-B704-142F19BD2967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77100"/>
              </a:tblGrid>
              <a:tr h="5034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Ubicación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app.js y config.js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Iniciar Express y leer la configuración del entorno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routes/ y controllers/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Elegir la operación y ejecutar su lógica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models/ y config.db.js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Definir tablas, asociaciones y conexión 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validators/ y middlewares/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Revisar datos, registrar solicitudes y comprobar acceso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public/ y practicas/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Interfaz de demostración y ejercicios independientes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docs/ y tests/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Documentación, solicitudes y pruebas de integración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4128A-DA1C-4D5B-970E-C4CCC6E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Para localizar una actividad, empieza en su ruta. Sigue el controlador y revisa el modelo que utiliza. Si la pantalla cambia, busca su sección en public/app.js.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19F6B-6D0B-4B2B-8AC8-C2F05DB1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21053-7F51-462D-AEC8-0170A4B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3215961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6DFFB-5790-4A21-82D6-80A2293F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El recorrido de una consulta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F79F7-93DE-48C7-9925-0EAA91EB5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401c7dc534271"/>
          <a:stretch xmlns:a="http://schemas.openxmlformats.org/drawingml/2006/main"/>
        </p:blipFill>
        <p:spPr>
          <a:xfrm xmlns:a="http://schemas.openxmlformats.org/drawingml/2006/main">
            <a:off x="647700" y="1972390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A7F88-5A79-4F13-B4AE-59D090D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43624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navegador pide GET /api/noticias. La ruta llama a NewController. El controlador consulta el modelo New y solicita sus relaciones con include.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Sequelize genera SQL para MySQL. La base devuelve los registros; el servidor envía JSON y la página lo presenta.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 imagen muestra la arquitectura de nuestra aplicación. Puedes seguir ese mismo recorrido en los archivos cuando quieras entender o cambiar una operación.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48177-FD6E-4D50-90F3-E712C18F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B145-1933-4C58-9B58-D07BD10C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257427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713EB-EFCB-434B-B8EB-80DCA9EB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Relaciones entre los modelos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0307A-C557-4A21-88BF-B6E3F396F93F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5848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Se relaciona con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Qué recuperas al consultar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Usuario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Perfil y estado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Rol del usuario y estado al que pertenece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Usuario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Noticias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Noticias creadas por esa persona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Noticia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Categoría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Tema de la noticia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Noticia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Lugar al que corresponde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Noticia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Autor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Nombre del usuario que la creó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951F9-7045-4636-B4E4-9F9FA5D7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Las claves foráneas relacionan los IDs. include permite devolver la información relacionada, no solo el número. MySQL impide eliminar un registro que sigue siendo necesario para otras filas.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B7F72-F172-42BE-B5C0-2CB6382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FBAE5-34FB-4249-B5FB-C8A8A60E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16558872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1CCEE-7F2F-4892-B03B-32228C6D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Sequelize y los controladores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5E3A7-FE28-43EC-9602-0E1A12D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Sequelize es el ORM: trabajas con modelos de JavaScript y la biblioteca genera consultas SQL. findAll lista; findByPk busca un ID; create inserta; update modifica y destroy elimina.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Cada controlador usa estas operaciones para su recurso. Creamos controladores y rutas de perfiles, categorías, estados, usuarios y noticias. Los catálogos comparten una factoría CRUD para evitar repetir la misma lógica.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Las rutas conectan método, camino, validación y controlador. El controlador no debe confiar en que el formulario ya revisó los datos. La base también aplica restricciones como correos únicos y relaciones válidas.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E339D-7EA0-424E-A44C-01AB2B96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877B5-E95A-4F47-960A-5674116F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8830835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6D3B0-8694-4947-BFDC-EAE73F93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Validaciones antes de guardar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8D108-021B-4EBA-9CE6-311BE39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Express Validator revisa lo que llega al servidor. En el registro verifica nombres, correo, contraseña y estado. En las noticias verifica título, contenido y referencias a categorías y estados.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Si una regla falla, validationResult permite construir una respuesta 422 con el campo y el mensaje. El laboratorio tiene un botón que envía datos inválidos directamente para demostrar que la protección no depende del formulario.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Un correo repetido produce 409 porque ya existe. Un ID relacionado inexistente también genera un conflicto. Validar formato y conservar integridad en la base son controles complementarios, y se realizan antes de dar por correcta una operación.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2E0FF-6E55-49E4-B534-E4947F4D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24A44-47CA-4E6F-9417-467E7F8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447603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CC272-1330-4AC7-B35F-38436A3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Registro y contraseñas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BEB38-99AD-4FB9-BF9C-BF03ED69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La persona envía nombre, apellido, correo, contraseña y estado. El servidor valida la entrada, asigna el perfil Contribuidor y guarda un hash de la contraseña con bcrypt. La respuesta no incluye el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No guardamos una contraseña como texto en la tabla. En el login, bcrypt compara el valor recibido con el hash almacenado. No se recupera la contraseña original desde la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cliente no puede convertirse en administrador enviando perfil_id o estatus en el formulario. Esas decisiones las toma el servidor. La cuenta administradora de demostración se prepara mediante configuración privada.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8BD93-345C-449F-82D7-2BD10628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EF0DA-D6BF-4F97-8CFA-C7BCE7E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1716943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1AC85-1308-49DB-90CF-11ABEFF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JWT y la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E77F0-99C1-4377-BFC0-70F8546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Al iniciar sesión correctamente, ApiNews devuelve un JSON Web Token firmado. El cliente lo envía como Authorization: Bearer seguido del token cuando consulta una ruta protegida.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middleware verifica la firma, vencimiento, emisor y destinatario. Luego consulta al usuario en la base para comprobar que exista y esté activo. Sin token, o con uno falso o vencido, responde 401.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JWT está firmado; no es una contraseña ni un documento cifrado. En nuestro laboratorio se mantiene en memoria. Cerrar sesión o recargar elimina el token del navegador. La clave de firma solo existe en el entorno privado del servidor.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0FD7C-81A0-4421-8BC0-31D48C40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A3F9-BE7C-4DDC-8C1E-20D2E385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832076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4C97E-3C51-42D4-B868-9BA5016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Autenticación y autorización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C97A0-C352-48AC-AF3E-236851BF1450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5848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Acción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Acceso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Respuesta si falta acceso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Consultar noticias aprobadas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Público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 requiere token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Proponer una noticia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Usuario autenticado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401 sin sesión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Editar una noticia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Autor o administrador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403 si pertenece a otra persona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Moderar noticias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Administrador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403 para un contribuidor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Modificar catálogos o gestionar usuarios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Administrador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401 sin sesión o 403 sin permiso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38CE7-16A4-416E-9B73-5676DBF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Autenticación responde quién eres. Autorización responde qué puedes hacer. Por eso una sesión válida no da permiso para todas las operaciones.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B097E-739F-4334-ACB3-2E8322FB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85703-068D-46F1-8457-7DEA777B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1175426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F045A-571B-4EC7-BABD-97FE13C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El flujo de una noticia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93F2F-8037-492C-8160-B8602156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Crear → pendiente. El usuario envía la noticia, pero la API la guarda sin publicarla. El autor la puede ver en Ver mis noticias; un administrador puede ver las pendientes para moderar.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Aprobar → visible. El administrador utiliza PATCH para cambiar el estatus a aprobada. Ahora la consulta pública GET /api/noticias la devuelve junto con categoría, estado y autor. Rechazar la mantiene fuera de la lista pública.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Editar → pendiente de nuevo. Aunque la noticia estuviera aprobada, modificarla requiere otra revisión. El servidor toma el autor del usuario autenticado y no acepta que el cliente suplante a otra persona.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BED63-3012-4587-AC0A-E4327EF9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61008-1C07-4EBA-B546-B2F20D9B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883297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BD608-F169-461E-A881-81C632ED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CORS JSON y configuración privada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FBE3D-7382-4BF5-A7BE-30CF1D8E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CORS indica desde qué orígenes puede un navegador consultar la API. En este laboratorio los clientes pueden leer la API pública; las operaciones protegidas siguen exigiendo un token y el rol correspondiente. CORS no sustituye la autorización.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express.json acepta cuerpos de hasta 2 MB. El campo opcional imagen puede transportar texto base64 o una URL; no se ejecuta ni se inserta como HTML. Un JSON mal formado devuelve 400 y uno demasiado grande devuelve 413.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dotenv carga .env en desarrollo. Render proporciona las variables del alojamiento: conexión MySQL, clave JWT y contraseña administradora. Los archivos privados quedan excluidos de GitHub.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FD217-91B3-4632-8871-2907172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8F368-22CA-468D-B4E9-25633A8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10896605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62C6A-AD4B-440C-AAF6-3768B478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Documentación y pruebas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7BC77-D0D1-4DCF-AED7-55FCDF7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Swagger se abre en /docs y describe 47 operaciones: métodos, rutas, parámetros, cuerpos y autenticación. La colección Postman permite repetir las solicitudes; el login guarda el JWT en una variable de la colección.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Se realizaron 14 pruebas de integración con una base MySQL temporal independiente. Comprueban funciones, errores, filtros, altas y bajas, validaciones, JWT, permisos, relaciones y aprobación de noticias. La base de demostración no se borra.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También se probó la interfaz en el navegador: creación y aprobación de una noticia, consultas y sesión. Para estudiar, mira qué entrada envías, el código HTTP recibido y el cambio que aparece en la base o en la lista.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A1822-A471-4AD7-BB1E-E2ED47C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58443-12D7-4D9D-870C-EB8A918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7836708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023D-A332-4291-88CA-9B4C616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Dónde se aloja el trabajo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3779-0090-40FD-8578-0012E2F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GitHub guarda el código en https://github.com/edcruzek/ApiNews. Render ejecuta el servidor Express y sirve la página. Clever Cloud aloja una base MySQL independiente en el plan DEV.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El enlace de la demostración es https://api-news-edcruzek.onrender.com. El mismo origen sirve la interfaz, /api y /docs. No tienes que iniciar VS Code ni una terminal para presentarlo cuando el servicio está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Se eligieron planes gratuitos. Render puede suspender la instancia por inactividad y tardar en reactivarla. Clever Cloud DEV tiene 10 MB y cinco conexiones: es una base pequeña para esta práctica, no un servicio de noticias comercial.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C1B45-5110-4AC2-B49C-97E2B995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26997-48EF-463D-8DC0-37259E4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20624055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02EEC-D738-43EA-823B-4313157A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Cómo presentar las actividades al profesor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66D5D-6D49-496E-94E7-4DA9B48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1. Abre el enlace y verifica Express con MySQL. 2. Calcula operaciones y emite un saludo. 3. Muestra los estados, pares, igualdad, error 503 y registro visible de solicitudes.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4. En Usuarios de práctica, filtra, agrega, consulta y elimina. 5. En JWT, envía datos inválidos, registra un contribuidor e inicia sesión. 6. Crea una noticia y observa que queda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7. Entra con la cuenta administradora, consulta catálogos y usuarios, aprueba la noticia y revisa que aparezca públicamente. 8. Abre Swagger para mostrar la documentación. Explica siempre qué dato entra, qué hace Express y qué respuesta sale.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34E8-D682-49A4-9560-5857BF29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2A9B6-3CD8-45F2-96CA-926C089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1809133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96ED0-3466-4F31-9F8E-79AEA153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Cómo interpretar las respuestas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940AF-5797-42BB-A590-45D69786F22E}"/>
              </a:ext>
            </a:extLst>
          </p:cNvPr>
          <p:cNvGraphicFramePr/>
          <p:nvPr/>
        </p:nvGraphicFramePr>
        <p:xfrm>
          <a:off xmlns:a="http://schemas.openxmlformats.org/drawingml/2006/main" x="647700" y="1485900"/>
          <a:ext xmlns:a="http://schemas.openxmlformats.org/drawingml/2006/main" cx="10896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77100"/>
              </a:tblGrid>
              <a:tr h="5034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Código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Qué significa en la práctica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T w="9525">
                      <a:solidFill>
                        <a:srgbClr val="D2DED7"/>
                      </a:solidFill>
                      <a:prstDash val="solid"/>
                    </a:lnT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DCEAE2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200 o 201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Consulta correcta o registro creado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204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Se eliminó el registro y no se envía cuerpo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401 y 403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Falta sesión válida o falta permiso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404 y 409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No existe el registro o entra en conflicto con otros datos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422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Los datos no cumplen las reglas del servidor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34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503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2DED7"/>
                      </a:solidFill>
                      <a:prstDash val="solid"/>
                    </a:lnL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C40"/>
                          </a:solidFill>
                          <a:latin typeface="Arial"/>
                          <a:ea typeface="Arial"/>
                          <a:cs typeface="Arial"/>
                        </a:rPr>
                        <a:t>El ejemplo intencional de mantenimiento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2DED7"/>
                      </a:solidFill>
                      <a:prstDash val="solid"/>
                    </a:lnR>
                    <a:lnB w="9525">
                      <a:solidFill>
                        <a:srgbClr val="D2DED7"/>
                      </a:solidFill>
                      <a:prstDash val="solid"/>
                    </a:lnB>
                    <a:solidFill>
                      <a:srgbClr val="F0F5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EFD0-8F9F-462D-8AA2-9551045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67325"/>
            <a:ext cx="10896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Si aparece un error de conexión, primero verifica salud. Si los datos son rechazados, lee detalles. Si falla el acceso, revisa el login y el perfil. Una respuesta de error esperada también demuestra que la API funciona correctamente.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B5B9D-AD20-4DAA-8A82-7732C95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6DD10-7C67-4A29-B18B-4F4F0E0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4511225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7DC56-4E2E-47EA-8CDE-95C43C87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2F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F35"/>
                </a:solidFill>
                <a:latin typeface="Arial"/>
                <a:ea typeface="Arial"/>
                <a:cs typeface="Arial"/>
              </a:rPr>
              <a:t>Lo que debes poder explicar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158A9-F90F-4792-8AAD-AE95D306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10875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Un endpoint combina método y ruta. Un middleware participa en el recorrido. Un controlador ejecuta la operación. Un modelo describe una tabla y sus relaciones. JSON es el formato de los mensajes entre cliente y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Sequelize consulta MySQL; MySQL conserva los datos. La validación rechaza entradas incorrectas. El JWT identifica una sesión; el rol limita lo que esa sesión puede hacer. La aprobación decide qué noticias se vuelven públicas.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3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C40"/>
                </a:solidFill>
                <a:latin typeface="Arial"/>
                <a:ea typeface="Arial"/>
                <a:cs typeface="Arial"/>
              </a:rPr>
              <a:t>No necesitas memorizar todo el código. Practica una solicitud de principio a fin y explica estos vínculos con tus palabras. El laboratorio y los ejemplos del informe están preparados para que puedas comprobar cada idea.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862C7-7FF4-4763-9065-5734AD4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Express y ApiNews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F578A-A583-4770-82E0-47895DB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376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3767A"/>
                </a:solidFill>
                <a:latin typeface="Arial"/>
                <a:ea typeface="Arial"/>
                <a:cs typeface="Arial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596133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2026-10-14T05:09:39.4300000Z</dcterms:created>
  <dcterms:modified xsi:type="dcterms:W3CDTF">2026-10-14T05:09:39.4300000Z</dcterms:modified>
</coreProperties>
</file>